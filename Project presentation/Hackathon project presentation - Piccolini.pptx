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58" r:id="rId2"/>
    <p:sldId id="309" r:id="rId3"/>
    <p:sldId id="326" r:id="rId4"/>
    <p:sldId id="327" r:id="rId5"/>
    <p:sldId id="328" r:id="rId6"/>
    <p:sldId id="329" r:id="rId7"/>
    <p:sldId id="312" r:id="rId8"/>
    <p:sldId id="330" r:id="rId9"/>
    <p:sldId id="332" r:id="rId10"/>
    <p:sldId id="333" r:id="rId11"/>
    <p:sldId id="325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BFBFB"/>
    <a:srgbClr val="00B050"/>
    <a:srgbClr val="2585C9"/>
    <a:srgbClr val="003462"/>
    <a:srgbClr val="7D33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3769B-1AC6-44D2-9912-75A692B8908E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11D06-5E17-4D35-9FF9-4DD73169D2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679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Hi, </a:t>
            </a:r>
            <a:r>
              <a:rPr lang="it-IT" dirty="0" err="1"/>
              <a:t>im</a:t>
            </a:r>
            <a:r>
              <a:rPr lang="it-IT" dirty="0"/>
              <a:t> </a:t>
            </a:r>
            <a:r>
              <a:rPr lang="it-IT" dirty="0" err="1"/>
              <a:t>matteo</a:t>
            </a:r>
            <a:r>
              <a:rPr lang="it-IT" dirty="0"/>
              <a:t> piccolini and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my</a:t>
            </a:r>
            <a:r>
              <a:rPr lang="it-IT" dirty="0"/>
              <a:t> project for the </a:t>
            </a:r>
            <a:r>
              <a:rPr lang="it-IT" dirty="0" err="1"/>
              <a:t>quandela</a:t>
            </a:r>
            <a:r>
              <a:rPr lang="it-IT" dirty="0"/>
              <a:t> challenge track </a:t>
            </a:r>
            <a:r>
              <a:rPr lang="it-IT" dirty="0" err="1"/>
              <a:t>number</a:t>
            </a:r>
            <a:r>
              <a:rPr lang="it-IT" dirty="0"/>
              <a:t> 2 </a:t>
            </a:r>
            <a:r>
              <a:rPr lang="it-IT" dirty="0" err="1"/>
              <a:t>presented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qiskit</a:t>
            </a:r>
            <a:r>
              <a:rPr lang="it-IT" dirty="0"/>
              <a:t> </a:t>
            </a:r>
            <a:r>
              <a:rPr lang="it-IT" dirty="0" err="1"/>
              <a:t>fall</a:t>
            </a:r>
            <a:r>
              <a:rPr lang="it-IT" dirty="0"/>
              <a:t> </a:t>
            </a:r>
            <a:r>
              <a:rPr lang="it-IT" dirty="0" err="1"/>
              <a:t>fest</a:t>
            </a:r>
            <a:r>
              <a:rPr lang="it-IT" dirty="0"/>
              <a:t> 2025 hackaton</a:t>
            </a:r>
          </a:p>
        </p:txBody>
      </p:sp>
    </p:spTree>
    <p:extLst>
      <p:ext uri="{BB962C8B-B14F-4D97-AF65-F5344CB8AC3E}">
        <p14:creationId xmlns:p14="http://schemas.microsoft.com/office/powerpoint/2010/main" val="215313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6034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103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149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3313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11D06-5E17-4D35-9FF9-4DD73169D2A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701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e e dat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358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r>
              <a:t>Autore e data</a:t>
            </a:r>
          </a:p>
        </p:txBody>
      </p:sp>
      <p:sp>
        <p:nvSpPr>
          <p:cNvPr id="12" name="Titolo presentazion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Titolo presentazione</a:t>
            </a:r>
          </a:p>
        </p:txBody>
      </p:sp>
      <p:sp>
        <p:nvSpPr>
          <p:cNvPr id="13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0524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accent1"/>
                </a:solidFill>
              </a:defRPr>
            </a:lvl5pPr>
          </a:lstStyle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66679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imo piano della parte superiore di una mongolfiera vista dall'alto"/>
          <p:cNvSpPr>
            <a:spLocks noGrp="1"/>
          </p:cNvSpPr>
          <p:nvPr>
            <p:ph type="pic" idx="21"/>
          </p:nvPr>
        </p:nvSpPr>
        <p:spPr>
          <a:xfrm>
            <a:off x="0" y="-63500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Titolo presentazione"/>
          <p:cNvSpPr txBox="1">
            <a:spLocks noGrp="1"/>
          </p:cNvSpPr>
          <p:nvPr>
            <p:ph type="title" hasCustomPrompt="1"/>
          </p:nvPr>
        </p:nvSpPr>
        <p:spPr>
          <a:xfrm>
            <a:off x="603250" y="3562350"/>
            <a:ext cx="10985500" cy="2324100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Titolo presentazione</a:t>
            </a:r>
          </a:p>
        </p:txBody>
      </p:sp>
      <p:sp>
        <p:nvSpPr>
          <p:cNvPr id="23" name="Autore e data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845" y="553069"/>
            <a:ext cx="10984311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Autore e data</a:t>
            </a:r>
          </a:p>
        </p:txBody>
      </p:sp>
      <p:sp>
        <p:nvSpPr>
          <p:cNvPr id="24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5804955"/>
            <a:ext cx="10985500" cy="558476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rgbClr val="FFFFFF"/>
                </a:solidFill>
              </a:defRPr>
            </a:lvl5pPr>
          </a:lstStyle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695352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</a:t>
            </a:r>
          </a:p>
        </p:txBody>
      </p:sp>
      <p:sp>
        <p:nvSpPr>
          <p:cNvPr id="43" name="Sottotitolo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29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diapositiva</a:t>
            </a:r>
          </a:p>
        </p:txBody>
      </p:sp>
      <p:sp>
        <p:nvSpPr>
          <p:cNvPr id="44" name="Corpo livello uno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66573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rPr dirty="0"/>
              <a:t>Testo </a:t>
            </a:r>
            <a:r>
              <a:rPr dirty="0" err="1"/>
              <a:t>elenco</a:t>
            </a:r>
            <a:r>
              <a:rPr dirty="0"/>
              <a:t> </a:t>
            </a:r>
            <a:r>
              <a:rPr dirty="0" err="1"/>
              <a:t>puntato</a:t>
            </a:r>
            <a:r>
              <a:rPr dirty="0"/>
              <a:t> </a:t>
            </a:r>
            <a:r>
              <a:rPr dirty="0" err="1"/>
              <a:t>diapositiva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5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4482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nimBg="1">
        <p:tmplLst>
          <p:tmpl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ttotitolo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diapositiva</a:t>
            </a:r>
          </a:p>
        </p:txBody>
      </p:sp>
      <p:sp>
        <p:nvSpPr>
          <p:cNvPr id="61" name="Corpo livello uno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Mongolfiere viste dal basso con un cielo azzurro sullo sfondo"/>
          <p:cNvSpPr>
            <a:spLocks noGrp="1"/>
          </p:cNvSpPr>
          <p:nvPr>
            <p:ph type="pic" idx="22"/>
          </p:nvPr>
        </p:nvSpPr>
        <p:spPr>
          <a:xfrm>
            <a:off x="4216400" y="631924"/>
            <a:ext cx="8425006" cy="55941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Titolo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Titolo</a:t>
            </a:r>
          </a:p>
        </p:txBody>
      </p:sp>
      <p:sp>
        <p:nvSpPr>
          <p:cNvPr id="6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8154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 sezion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>
              <a:defRPr sz="5800" b="0" spc="-116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Titolo sezione</a:t>
            </a:r>
          </a:p>
        </p:txBody>
      </p:sp>
      <p:sp>
        <p:nvSpPr>
          <p:cNvPr id="72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8825"/>
            <a:ext cx="26289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6597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olo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Titolo</a:t>
            </a:r>
          </a:p>
        </p:txBody>
      </p:sp>
      <p:sp>
        <p:nvSpPr>
          <p:cNvPr id="80" name="Sottotitolo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diapositiva</a:t>
            </a:r>
          </a:p>
        </p:txBody>
      </p:sp>
      <p:sp>
        <p:nvSpPr>
          <p:cNvPr id="8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55494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olo programma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Titolo programma</a:t>
            </a:r>
          </a:p>
        </p:txBody>
      </p:sp>
      <p:sp>
        <p:nvSpPr>
          <p:cNvPr id="89" name="Sottotitolo programm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2395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Sottotitolo programma</a:t>
            </a:r>
          </a:p>
        </p:txBody>
      </p:sp>
      <p:sp>
        <p:nvSpPr>
          <p:cNvPr id="90" name="Corpo livello uno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1pPr>
            <a:lvl2pPr marL="0" indent="2286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2pPr>
            <a:lvl3pPr marL="0" indent="4572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3pPr>
            <a:lvl4pPr marL="0" indent="6858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4pPr>
            <a:lvl5pPr marL="0" indent="9144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5pPr>
          </a:lstStyle>
          <a:p>
            <a:r>
              <a:t>Argomenti del programma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287383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orpo livello uno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460422"/>
            <a:ext cx="10985500" cy="19371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Dichiarazione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155739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rpo livello uno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Dettagli informa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Dettagli informazione</a:t>
            </a:r>
          </a:p>
        </p:txBody>
      </p:sp>
      <p:sp>
        <p:nvSpPr>
          <p:cNvPr id="10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479184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40413" y="5337727"/>
            <a:ext cx="100746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Attribuzione</a:t>
            </a:r>
          </a:p>
        </p:txBody>
      </p:sp>
      <p:sp>
        <p:nvSpPr>
          <p:cNvPr id="116" name="Corpo livello uno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62" indent="-2349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62" indent="-63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62" indent="2222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62" indent="4508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62" indent="679450">
              <a:spcBef>
                <a:spcPts val="0"/>
              </a:spcBef>
              <a:buSzTx/>
              <a:buNone/>
              <a:defRPr sz="4250" spc="-85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“Citazione degna di nota”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245898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Mongolfiere viste dal basso con un cielo azzurro sullo sfondo"/>
          <p:cNvSpPr>
            <a:spLocks noGrp="1"/>
          </p:cNvSpPr>
          <p:nvPr>
            <p:ph type="pic" sz="quarter" idx="21"/>
          </p:nvPr>
        </p:nvSpPr>
        <p:spPr>
          <a:xfrm>
            <a:off x="7718252" y="635000"/>
            <a:ext cx="4083584" cy="27114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Primo piano della parte superiore di una mongolfiera vista dall'alto"/>
          <p:cNvSpPr>
            <a:spLocks noGrp="1"/>
          </p:cNvSpPr>
          <p:nvPr>
            <p:ph type="pic" sz="quarter" idx="22"/>
          </p:nvPr>
        </p:nvSpPr>
        <p:spPr>
          <a:xfrm>
            <a:off x="7730886" y="3542986"/>
            <a:ext cx="4074207" cy="27161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Mongolfiere viste dal basso con un cielo azzurro sullo sfondo"/>
          <p:cNvSpPr>
            <a:spLocks noGrp="1"/>
          </p:cNvSpPr>
          <p:nvPr>
            <p:ph type="pic" idx="23"/>
          </p:nvPr>
        </p:nvSpPr>
        <p:spPr>
          <a:xfrm>
            <a:off x="-62318" y="635000"/>
            <a:ext cx="8429610" cy="56197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93863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>
            <a:spLocks noGrp="1"/>
          </p:cNvSpPr>
          <p:nvPr>
            <p:ph type="title" hasCustomPrompt="1"/>
          </p:nvPr>
        </p:nvSpPr>
        <p:spPr>
          <a:xfrm>
            <a:off x="603250" y="4762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Titolo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6708"/>
            <a:ext cx="262892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92100">
              <a:defRPr sz="9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48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med"/>
  <p:txStyles>
    <p:titleStyle>
      <a:lvl1pPr marL="0" marR="0" indent="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teo-piccolini/QRC_hackaton_Paris_2025/tree/ma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linkedin.com/notifications/?filter=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eneral robust preparation of maximally entangled states via identical particle interferometry"/>
          <p:cNvSpPr txBox="1">
            <a:spLocks noGrp="1"/>
          </p:cNvSpPr>
          <p:nvPr>
            <p:ph type="ctrTitle"/>
          </p:nvPr>
        </p:nvSpPr>
        <p:spPr>
          <a:xfrm>
            <a:off x="348930" y="254000"/>
            <a:ext cx="11494136" cy="1880147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600" dirty="0" err="1">
                <a:solidFill>
                  <a:schemeClr val="accent4"/>
                </a:solidFill>
              </a:rPr>
              <a:t>Qiskit</a:t>
            </a:r>
            <a:r>
              <a:rPr lang="en-US" sz="4600" dirty="0">
                <a:solidFill>
                  <a:schemeClr val="accent4"/>
                </a:solidFill>
              </a:rPr>
              <a:t> Fall Fest 2025 Paris-</a:t>
            </a:r>
            <a:r>
              <a:rPr lang="en-US" sz="4600" dirty="0" err="1">
                <a:solidFill>
                  <a:schemeClr val="accent4"/>
                </a:solidFill>
              </a:rPr>
              <a:t>Saclay</a:t>
            </a:r>
            <a:br>
              <a:rPr lang="en-US" sz="4600">
                <a:solidFill>
                  <a:schemeClr val="accent4"/>
                </a:solidFill>
              </a:rPr>
            </a:br>
            <a:r>
              <a:rPr lang="en-US" sz="4600">
                <a:solidFill>
                  <a:schemeClr val="accent4"/>
                </a:solidFill>
              </a:rPr>
              <a:t>Hackathon</a:t>
            </a:r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53" name="Rosario Lo Franco"/>
          <p:cNvSpPr txBox="1">
            <a:spLocks noGrp="1"/>
          </p:cNvSpPr>
          <p:nvPr>
            <p:ph type="subTitle" sz="quarter" idx="1"/>
          </p:nvPr>
        </p:nvSpPr>
        <p:spPr>
          <a:xfrm>
            <a:off x="217795" y="3195443"/>
            <a:ext cx="9957045" cy="52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r>
              <a:rPr lang="it-IT" sz="2800" dirty="0"/>
              <a:t>Matteo Piccolini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8EC547F-17E2-31ED-A12E-90208B753764}"/>
              </a:ext>
            </a:extLst>
          </p:cNvPr>
          <p:cNvSpPr txBox="1"/>
          <p:nvPr/>
        </p:nvSpPr>
        <p:spPr>
          <a:xfrm>
            <a:off x="217795" y="2417829"/>
            <a:ext cx="1197420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Off val="16847"/>
                  </a:schemeClr>
                </a:solidFill>
                <a:sym typeface="Helvetica Neue"/>
              </a:rPr>
              <a:t>Quandela</a:t>
            </a:r>
            <a:r>
              <a:rPr lang="en-US" sz="3600" dirty="0">
                <a:solidFill>
                  <a:schemeClr val="accent4"/>
                </a:solidFill>
              </a:rPr>
              <a:t> </a:t>
            </a:r>
            <a:r>
              <a:rPr lang="en-US" sz="3600" b="1" dirty="0">
                <a:solidFill>
                  <a:schemeClr val="accent1">
                    <a:lumOff val="16847"/>
                  </a:schemeClr>
                </a:solidFill>
              </a:rPr>
              <a:t>challenge 2 - QML for swaptions prediction</a:t>
            </a:r>
            <a:endParaRPr lang="it-IT" sz="3600" b="1" dirty="0">
              <a:solidFill>
                <a:schemeClr val="accent1">
                  <a:lumOff val="16847"/>
                </a:schemeClr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520148F-5224-95EC-593E-5F5E60CFA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56" y="4672237"/>
            <a:ext cx="7142480" cy="2031422"/>
          </a:xfrm>
          <a:prstGeom prst="rect">
            <a:avLst/>
          </a:prstGeom>
        </p:spPr>
      </p:pic>
      <p:sp>
        <p:nvSpPr>
          <p:cNvPr id="10" name="Rosario Lo Franco">
            <a:extLst>
              <a:ext uri="{FF2B5EF4-FFF2-40B4-BE49-F238E27FC236}">
                <a16:creationId xmlns:a16="http://schemas.microsoft.com/office/drawing/2014/main" id="{C051717E-9079-50BF-D94E-81C3D7EC2C5E}"/>
              </a:ext>
            </a:extLst>
          </p:cNvPr>
          <p:cNvSpPr txBox="1">
            <a:spLocks/>
          </p:cNvSpPr>
          <p:nvPr/>
        </p:nvSpPr>
        <p:spPr>
          <a:xfrm>
            <a:off x="5028553" y="4144163"/>
            <a:ext cx="2352686" cy="52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>
                    <a:lumOff val="16847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4572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6858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9144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50" b="1" i="0" u="none" strike="noStrike" cap="none" spc="0" baseline="0"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18288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21336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4384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743200" marR="0" indent="-304800" algn="l" defTabSz="1219169" rtl="0" latinLnBrk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it-IT" sz="2400" kern="0" dirty="0" err="1">
                <a:solidFill>
                  <a:schemeClr val="accent4"/>
                </a:solidFill>
              </a:rPr>
              <a:t>Sponsored</a:t>
            </a:r>
            <a:r>
              <a:rPr lang="it-IT" sz="2400" kern="0" dirty="0">
                <a:solidFill>
                  <a:schemeClr val="accent4"/>
                </a:solidFill>
              </a:rPr>
              <a:t> by: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2324-AA92-8CD7-C6BF-E721B6AE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36AAA4B2-3A99-355D-9BDF-2A1D69067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Goal and </a:t>
            </a:r>
            <a:r>
              <a:rPr lang="it-IT" dirty="0" err="1"/>
              <a:t>chosen</a:t>
            </a:r>
            <a:r>
              <a:rPr lang="it-IT" dirty="0"/>
              <a:t> framework</a:t>
            </a:r>
            <a:br>
              <a:rPr lang="it-IT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341D51ED-6326-BD1D-3A37-D1E2F5E7843F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10B2F22-FC0F-AF5E-0930-87966B6BE700}"/>
              </a:ext>
            </a:extLst>
          </p:cNvPr>
          <p:cNvSpPr txBox="1"/>
          <p:nvPr/>
        </p:nvSpPr>
        <p:spPr>
          <a:xfrm>
            <a:off x="611329" y="1022218"/>
            <a:ext cx="11373661" cy="57861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Given a dataset of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swaptions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prices, use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Quantum Machine Learning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techniques to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predict future values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over a period of two weeks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Chosen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 </a:t>
            </a:r>
            <a:r>
              <a:rPr lang="it-IT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model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 Quantum Reservoir Computing (</a:t>
            </a:r>
            <a:r>
              <a:rPr lang="it-IT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QRC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) with a single reservoir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Main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reference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lvl="1" defTabSz="1219169" hangingPunct="0"/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Li, Q.,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Mukhopadhyay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C.,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Bayat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A., &amp;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Habibnia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A. (2025). 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Quantum Reservoir Computing for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Realized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Volatility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Forecasting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it-IT" sz="1600" i="1" kern="0" dirty="0" err="1">
                <a:solidFill>
                  <a:srgbClr val="000000"/>
                </a:solidFill>
                <a:latin typeface="Helvetica Neue"/>
              </a:rPr>
              <a:t>arXiv</a:t>
            </a:r>
            <a:r>
              <a:rPr lang="it-IT" sz="1600" i="1" kern="0" dirty="0">
                <a:solidFill>
                  <a:srgbClr val="000000"/>
                </a:solidFill>
                <a:latin typeface="Helvetica Neue"/>
              </a:rPr>
              <a:t> preprint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 arXiv:2505.13933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latin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latin typeface="Helvetica Neue"/>
              </a:rPr>
              <a:t>Other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latin typeface="Helvetica Neue"/>
              </a:rPr>
              <a:t>references</a:t>
            </a:r>
            <a:r>
              <a:rPr lang="it-IT" sz="2200" kern="0" dirty="0">
                <a:solidFill>
                  <a:srgbClr val="000000"/>
                </a:solidFill>
                <a:latin typeface="Helvetica Neue"/>
              </a:rPr>
              <a:t>: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it-IT" sz="2200" kern="0" dirty="0">
              <a:solidFill>
                <a:srgbClr val="000000"/>
              </a:solidFill>
              <a:latin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Li, Q.,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Mukhopadhyay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C., Minati, L., &amp;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Bayat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A. (2025). 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Quantum reservoir computing for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predicting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and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characterizing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chaotic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maps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it-IT" sz="1600" i="1" kern="0" dirty="0" err="1">
                <a:solidFill>
                  <a:srgbClr val="000000"/>
                </a:solidFill>
                <a:latin typeface="Helvetica Neue"/>
              </a:rPr>
              <a:t>arXiv</a:t>
            </a:r>
            <a:r>
              <a:rPr lang="it-IT" sz="1600" i="1" kern="0" dirty="0">
                <a:solidFill>
                  <a:srgbClr val="000000"/>
                </a:solidFill>
                <a:latin typeface="Helvetica Neue"/>
              </a:rPr>
              <a:t> preprint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 arXiv:2509.12071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it-IT" sz="1600" kern="0" dirty="0">
              <a:solidFill>
                <a:srgbClr val="000000"/>
              </a:solidFill>
              <a:latin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Yasuda, T., Suzuki, Y.,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Kubota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T., Nakajima, K., Gao, Q., Zhang, W.,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Shimono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S., </a:t>
            </a:r>
            <a:r>
              <a:rPr lang="it-IT" sz="1600" kern="0" dirty="0" err="1">
                <a:solidFill>
                  <a:srgbClr val="000000"/>
                </a:solidFill>
                <a:latin typeface="Helvetica Neue"/>
              </a:rPr>
              <a:t>Nurdin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, H. I., &amp; Yamamoto, N. (2023). 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Quantum reservoir computing with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repeated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measurements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on </a:t>
            </a:r>
            <a:r>
              <a:rPr lang="it-IT" sz="1600" b="1" kern="0" dirty="0" err="1">
                <a:solidFill>
                  <a:srgbClr val="000000"/>
                </a:solidFill>
                <a:latin typeface="Helvetica Neue"/>
              </a:rPr>
              <a:t>superconducting</a:t>
            </a:r>
            <a:r>
              <a:rPr lang="it-IT" sz="1600" b="1" kern="0" dirty="0">
                <a:solidFill>
                  <a:srgbClr val="000000"/>
                </a:solidFill>
                <a:latin typeface="Helvetica Neue"/>
              </a:rPr>
              <a:t> devices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. </a:t>
            </a:r>
            <a:r>
              <a:rPr lang="it-IT" sz="1600" i="1" kern="0" dirty="0" err="1">
                <a:solidFill>
                  <a:srgbClr val="000000"/>
                </a:solidFill>
                <a:latin typeface="Helvetica Neue"/>
              </a:rPr>
              <a:t>arXiv</a:t>
            </a:r>
            <a:r>
              <a:rPr lang="it-IT" sz="1600" i="1" kern="0" dirty="0">
                <a:solidFill>
                  <a:srgbClr val="000000"/>
                </a:solidFill>
                <a:latin typeface="Helvetica Neue"/>
              </a:rPr>
              <a:t> preprint</a:t>
            </a:r>
            <a:r>
              <a:rPr lang="it-IT" sz="1600" kern="0" dirty="0">
                <a:solidFill>
                  <a:srgbClr val="000000"/>
                </a:solidFill>
                <a:latin typeface="Helvetica Neue"/>
              </a:rPr>
              <a:t> arXiv:2310.06706</a:t>
            </a:r>
          </a:p>
        </p:txBody>
      </p:sp>
    </p:spTree>
    <p:extLst>
      <p:ext uri="{BB962C8B-B14F-4D97-AF65-F5344CB8AC3E}">
        <p14:creationId xmlns:p14="http://schemas.microsoft.com/office/powerpoint/2010/main" val="391288888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9246-5C7A-2DE4-ADBD-3C59BD26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30C6D8D2-233B-74ED-7D3F-CE499367C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Quantum Reservoir Computing</a:t>
            </a:r>
            <a:br>
              <a:rPr lang="it-IT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69A9F805-759C-103B-13EB-DA2E954EDF62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E6A34D-9760-7A84-11A0-A88D224029B9}"/>
              </a:ext>
            </a:extLst>
          </p:cNvPr>
          <p:cNvSpPr txBox="1"/>
          <p:nvPr/>
        </p:nvSpPr>
        <p:spPr>
          <a:xfrm>
            <a:off x="611329" y="1194938"/>
            <a:ext cx="11373661" cy="44935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Exploits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memory effects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in the dynamics of a fixed quantum system (reservoir)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Crucial difference with standard neural network: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reservoir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parameters are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not trained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learning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occurs only </a:t>
            </a:r>
            <a:r>
              <a:rPr lang="en-US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during classical post-processing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of measurement results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Motivations to use: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temporal dynamics </a:t>
            </a:r>
            <a:r>
              <a:rPr lang="en-US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great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prediction capacity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for time series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no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computational burden of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training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 </a:t>
            </a: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neural networks</a:t>
            </a: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endParaRPr lang="en-US" sz="2200" kern="0" dirty="0">
              <a:solidFill>
                <a:srgbClr val="000000"/>
              </a:solidFill>
              <a:sym typeface="Helvetica Neue"/>
            </a:endParaRPr>
          </a:p>
          <a:p>
            <a:pPr marL="800100" lvl="1" indent="-342900" defTabSz="1219169" hangingPunct="0">
              <a:buFont typeface="Wingdings" panose="05000000000000000000" pitchFamily="2" charset="2"/>
              <a:buChar char="§"/>
            </a:pP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implementations already conceptualized for different physical platforms</a:t>
            </a:r>
          </a:p>
        </p:txBody>
      </p:sp>
    </p:spTree>
    <p:extLst>
      <p:ext uri="{BB962C8B-B14F-4D97-AF65-F5344CB8AC3E}">
        <p14:creationId xmlns:p14="http://schemas.microsoft.com/office/powerpoint/2010/main" val="285575732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BFE8-53A0-3661-942E-87A8852E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C75BEE47-CFA1-E5C4-42B2-B581A4AFD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19825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Quantum Reservoir Computing</a:t>
            </a:r>
            <a:br>
              <a:rPr lang="it-IT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69577BA4-8171-DC6E-DD7B-B2FD6CB1C236}"/>
              </a:ext>
            </a:extLst>
          </p:cNvPr>
          <p:cNvSpPr/>
          <p:nvPr/>
        </p:nvSpPr>
        <p:spPr>
          <a:xfrm>
            <a:off x="611329" y="84033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D010CCB8-32A7-17B2-62BE-188E89537297}"/>
                  </a:ext>
                </a:extLst>
              </p:cNvPr>
              <p:cNvSpPr txBox="1"/>
              <p:nvPr/>
            </p:nvSpPr>
            <p:spPr>
              <a:xfrm>
                <a:off x="552450" y="804511"/>
                <a:ext cx="5782291" cy="21897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Two subsystems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input qubits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hidden qubits, initialized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0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0</m:t>
                        </m:r>
                      </m:e>
                    </m:d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…|0⟩</m:t>
                    </m:r>
                  </m:oMath>
                </a14:m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Features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at times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are </a:t>
                </a: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predicted from past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𝑘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000" i="1" kern="0" dirty="0">
                    <a:solidFill>
                      <a:srgbClr val="000000"/>
                    </a:solidFill>
                    <a:sym typeface="Helvetica Neue"/>
                  </a:rPr>
                  <a:t>lags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features (here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𝑘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=3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)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D010CCB8-32A7-17B2-62BE-188E8953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804511"/>
                <a:ext cx="5782291" cy="2189767"/>
              </a:xfrm>
              <a:prstGeom prst="rect">
                <a:avLst/>
              </a:prstGeom>
              <a:blipFill>
                <a:blip r:embed="rId4"/>
                <a:stretch>
                  <a:fillRect l="-949" r="-2110" b="-417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21780120-4A1B-419B-2378-E54A804C3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741" y="1017870"/>
            <a:ext cx="5714083" cy="20910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27F5F74-E75C-C027-0247-E2687BAB737C}"/>
                  </a:ext>
                </a:extLst>
              </p:cNvPr>
              <p:cNvSpPr txBox="1"/>
              <p:nvPr/>
            </p:nvSpPr>
            <p:spPr>
              <a:xfrm>
                <a:off x="521970" y="3129277"/>
                <a:ext cx="11243310" cy="368581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Angle encoding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of one feature per qubit – min-max normalization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Total system 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(input + hidden) </a:t>
                </a: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evolution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with Hamiltonian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for time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𝜏</m:t>
                    </m:r>
                  </m:oMath>
                </a14:m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Reset input qubits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only. Hidden qubits preserve dynamics memory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0" dirty="0">
                    <a:solidFill>
                      <a:srgbClr val="FF0000"/>
                    </a:solidFill>
                    <a:sym typeface="Helvetica Neue"/>
                  </a:rPr>
                  <a:t>Repeat</a:t>
                </a:r>
                <a:r>
                  <a:rPr lang="en-US" sz="2000" kern="0" dirty="0">
                    <a:solidFill>
                      <a:srgbClr val="000000"/>
                    </a:solidFill>
                    <a:sym typeface="Helvetica Neue"/>
                  </a:rPr>
                  <a:t> until temporal step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−1</m:t>
                    </m:r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 (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obtain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layers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),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then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do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not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reset input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qubits</a:t>
                </a:r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kern="0" dirty="0" err="1">
                    <a:solidFill>
                      <a:srgbClr val="000000"/>
                    </a:solidFill>
                  </a:rPr>
                  <a:t>Measure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all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: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gather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Z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expectation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values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for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each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qubit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in a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vector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r>
                      <a:rPr lang="it-IT" sz="20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it-IT" sz="2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…</m:t>
                    </m:r>
                    <m:r>
                      <a:rPr lang="it-IT" sz="20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it-IT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it-IT" sz="20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kern="0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kern="0" dirty="0">
                    <a:solidFill>
                      <a:srgbClr val="FF0000"/>
                    </a:solidFill>
                  </a:rPr>
                  <a:t>Train </a:t>
                </a:r>
                <a:r>
                  <a:rPr lang="it-IT" sz="2000" kern="0" dirty="0" err="1">
                    <a:solidFill>
                      <a:srgbClr val="FF0000"/>
                    </a:solidFill>
                  </a:rPr>
                  <a:t>measured</a:t>
                </a:r>
                <a:r>
                  <a:rPr lang="it-IT" sz="2000" kern="0" dirty="0">
                    <a:solidFill>
                      <a:srgbClr val="FF0000"/>
                    </a:solidFill>
                  </a:rPr>
                  <a:t> data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with target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: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weigth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matrix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 from linear </a:t>
                </a:r>
                <a:r>
                  <a:rPr lang="it-IT" sz="2000" kern="0" dirty="0" err="1">
                    <a:solidFill>
                      <a:srgbClr val="000000"/>
                    </a:solidFill>
                  </a:rPr>
                  <a:t>regression</a:t>
                </a:r>
                <a:r>
                  <a:rPr lang="it-IT" sz="20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sSubSup>
                      <m:sSubSupPr>
                        <m:ctrlP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it-IT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</m:oMath>
                </a14:m>
                <a:r>
                  <a:rPr lang="it-IT" sz="2000" kern="0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27F5F74-E75C-C027-0247-E2687BAB7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70" y="3129277"/>
                <a:ext cx="11243310" cy="3685817"/>
              </a:xfrm>
              <a:prstGeom prst="rect">
                <a:avLst/>
              </a:prstGeom>
              <a:blipFill>
                <a:blip r:embed="rId6"/>
                <a:stretch>
                  <a:fillRect l="-488" t="-661" b="-148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9381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402D-FB3F-AD76-C599-CC575D34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CBBDBDF4-0280-23F8-CB95-3F2795A3E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Step 1: data management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BB893237-DAD7-FAFC-DF79-FA4B48614A0B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426F93E-1016-953C-16BA-F4305B1AFB2B}"/>
                  </a:ext>
                </a:extLst>
              </p:cNvPr>
              <p:cNvSpPr txBox="1"/>
              <p:nvPr/>
            </p:nvSpPr>
            <p:spPr>
              <a:xfrm>
                <a:off x="611329" y="1194938"/>
                <a:ext cx="11373661" cy="54464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Dataset size: 224 features - tenors &amp; maturities – per day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too many input qubits required!</a:t>
                </a: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Reduce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number of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features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with Principal Component Analysis (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PCA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)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compression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3 PC features which capture the highest variabilities of data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Split dataset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into 70% training and 30% test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Prepare input data for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quantum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circuit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: 3 features and 3 temporal layers </a:t>
                </a:r>
                <a14:m>
                  <m:oMath xmlns:m="http://schemas.openxmlformats.org/officeDocument/2006/math">
                    <m:r>
                      <a:rPr lang="it-IT" sz="22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(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−1, 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−2,  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−3)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circuit with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9 parameters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to predict PC features at time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</m:oMath>
                </a14:m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Rolling-window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approach: start with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=4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and repeat for every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𝑡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&gt;4</m:t>
                    </m:r>
                  </m:oMath>
                </a14:m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426F93E-1016-953C-16BA-F4305B1AF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9" y="1194938"/>
                <a:ext cx="11373661" cy="5446427"/>
              </a:xfrm>
              <a:prstGeom prst="rect">
                <a:avLst/>
              </a:prstGeom>
              <a:blipFill>
                <a:blip r:embed="rId4"/>
                <a:stretch>
                  <a:fillRect l="-589" r="-69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3617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26AB-C7D5-6BB1-0641-1CF1B795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4D0B73C3-86AE-EE41-B0A0-2E3CA04AD0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Step 2: create quantum </a:t>
            </a:r>
            <a:r>
              <a:rPr lang="it-IT" dirty="0" err="1"/>
              <a:t>circuit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1884BD69-C812-B6C0-D803-7631AA9AD49F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89748B4-A7D9-A93A-199E-07D95942A7AD}"/>
                  </a:ext>
                </a:extLst>
              </p:cNvPr>
              <p:cNvSpPr txBox="1"/>
              <p:nvPr/>
            </p:nvSpPr>
            <p:spPr>
              <a:xfrm>
                <a:off x="611329" y="1018134"/>
                <a:ext cx="11373661" cy="5282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Feature encoding: angle encoding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𝑅𝑌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(</m:t>
                    </m:r>
                    <m:sSub>
                      <m:sSubPr>
                        <m:ctrlP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200" b="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PC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200" b="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k</m:t>
                        </m:r>
                      </m:sub>
                    </m:sSub>
                    <m:r>
                      <a:rPr lang="it-IT" sz="22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)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on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𝑘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-</a:t>
                </a:r>
                <a:r>
                  <a:rPr lang="en-US" sz="2200" kern="0" dirty="0" err="1">
                    <a:solidFill>
                      <a:srgbClr val="000000"/>
                    </a:solidFill>
                    <a:sym typeface="Helvetica Neue"/>
                  </a:rPr>
                  <a:t>th</a:t>
                </a: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 input qubit (3 PCs </a:t>
                </a:r>
                <a:r>
                  <a:rPr lang="en-US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b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</m:oMath>
                </a14:m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)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en-US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kern="0" dirty="0">
                    <a:solidFill>
                      <a:srgbClr val="000000"/>
                    </a:solidFill>
                    <a:sym typeface="Helvetica Neue"/>
                  </a:rPr>
                  <a:t>Evolution: </a:t>
                </a:r>
                <a:r>
                  <a:rPr lang="en-US" sz="2200" kern="0" dirty="0">
                    <a:solidFill>
                      <a:srgbClr val="FF0000"/>
                    </a:solidFill>
                    <a:sym typeface="Helvetica Neue"/>
                  </a:rPr>
                  <a:t>Ising Hamiltonian </a:t>
                </a:r>
                <a14:m>
                  <m:oMath xmlns:m="http://schemas.openxmlformats.org/officeDocument/2006/math">
                    <m:r>
                      <a:rPr lang="pl-PL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r>
                      <a:rPr lang="pl-PL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&lt;</m:t>
                        </m:r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𝑗</m:t>
                        </m:r>
                      </m:sub>
                      <m:sup/>
                      <m:e>
                        <m:r>
                          <a:rPr lang="it-IT" sz="22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 </m:t>
                        </m:r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𝐽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𝑋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𝑋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pl-PL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+</m:t>
                    </m:r>
                    <m:r>
                      <a:rPr lang="pl-PL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𝜈</m:t>
                    </m:r>
                    <m:r>
                      <a:rPr lang="it-IT" sz="2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pl-PL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𝑍</m:t>
                            </m:r>
                          </m:e>
                          <m:sub>
                            <m:r>
                              <a:rPr lang="pl-PL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Interaction: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each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input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qubit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with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each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hidden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qubit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(</a:t>
                </a:r>
                <a:r>
                  <a:rPr lang="it-IT" sz="2200" kern="0" dirty="0">
                    <a:solidFill>
                      <a:srgbClr val="FF0000"/>
                    </a:solidFill>
                    <a:sym typeface="Helvetica Neue"/>
                  </a:rPr>
                  <a:t>no intra-set interactions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)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 kern="0" dirty="0" err="1">
                    <a:solidFill>
                      <a:srgbClr val="FF0000"/>
                    </a:solidFill>
                    <a:sym typeface="Helvetica Neue"/>
                  </a:rPr>
                  <a:t>Evolution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operator : </a:t>
                </a:r>
                <a14:m>
                  <m:oMath xmlns:m="http://schemas.openxmlformats.org/officeDocument/2006/math"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𝑈</m:t>
                    </m:r>
                    <m:d>
                      <m:dPr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𝑡</m:t>
                        </m:r>
                      </m:e>
                    </m:d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sSup>
                      <m:sSupPr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pPr>
                      <m:e>
                        <m: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𝑒</m:t>
                        </m:r>
                      </m:e>
                      <m:sup>
                        <m:r>
                          <a:rPr lang="it-IT" sz="22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(</a:t>
                </a:r>
                <a14:m>
                  <m:oMath xmlns:m="http://schemas.openxmlformats.org/officeDocument/2006/math">
                    <m:r>
                      <a:rPr lang="it-IT" sz="2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ℏ=1</m:t>
                    </m:r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)  </a:t>
                </a:r>
                <a:r>
                  <a:rPr lang="it-IT" sz="2200" kern="0" dirty="0">
                    <a:solidFill>
                      <a:srgbClr val="FF0000"/>
                    </a:solidFill>
                    <a:sym typeface="Helvetica Neue"/>
                  </a:rPr>
                  <a:t>Trotter </a:t>
                </a:r>
                <a:r>
                  <a:rPr lang="it-IT" sz="2200" kern="0" dirty="0" err="1">
                    <a:solidFill>
                      <a:srgbClr val="FF0000"/>
                    </a:solidFill>
                    <a:sym typeface="Helvetica Neue"/>
                  </a:rPr>
                  <a:t>approximation</a:t>
                </a:r>
                <a:r>
                  <a:rPr lang="it-IT" sz="2200" kern="0" dirty="0">
                    <a:solidFill>
                      <a:srgbClr val="FF0000"/>
                    </a:solidFill>
                    <a:sym typeface="Helvetica Neue"/>
                  </a:rPr>
                  <a:t> 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(1st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order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):    	</a:t>
                </a:r>
                <a14:m>
                  <m:oMath xmlns:m="http://schemas.openxmlformats.org/officeDocument/2006/math"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𝑈</m:t>
                    </m:r>
                    <m:d>
                      <m:dPr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𝑡</m:t>
                        </m:r>
                      </m:e>
                    </m:d>
                    <m:r>
                      <a:rPr lang="it-IT" sz="2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≈</m:t>
                    </m:r>
                    <m:nary>
                      <m:naryPr>
                        <m:chr m:val="∏"/>
                        <m:supHide m:val="on"/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&lt;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sz="220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sup>
                        </m:sSup>
                      </m:e>
                    </m:nary>
                    <m:nary>
                      <m:naryPr>
                        <m:chr m:val="∏"/>
                        <m:supHide m:val="on"/>
                        <m:ctrlPr>
                          <a:rPr lang="it-IT" sz="22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𝑖</m:t>
                            </m:r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𝜈</m:t>
                            </m:r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it-IT" sz="2200" i="1" kern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it-IT" sz="22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 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it-IT" sz="2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&lt;</m:t>
                        </m:r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𝑗</m:t>
                        </m:r>
                      </m:sub>
                      <m:sup/>
                      <m:e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𝑅𝑋𝑋</m:t>
                        </m:r>
                        <m:d>
                          <m:d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it-IT" sz="22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 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it-IT" sz="2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 </m:t>
                    </m:r>
                    <m:nary>
                      <m:naryPr>
                        <m:chr m:val="∏"/>
                        <m:supHide m:val="on"/>
                        <m:ctrlP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naryPr>
                      <m:sub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𝑖</m:t>
                        </m:r>
                      </m:sub>
                      <m:sup/>
                      <m:e>
                        <m:r>
                          <a:rPr lang="it-IT" sz="22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𝑅𝑍</m:t>
                        </m:r>
                        <m:d>
                          <m:dPr>
                            <m:ctrlP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2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𝜈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 </m:t>
                            </m:r>
                            <m:r>
                              <a:rPr lang="it-IT" sz="22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Helvetica Neue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defTabSz="1219169" hangingPunct="0">
                  <a:lnSpc>
                    <a:spcPct val="200000"/>
                  </a:lnSpc>
                </a:pP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 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only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requires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𝑋𝑋</m:t>
                    </m:r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(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entangling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) and </a:t>
                </a:r>
                <a14:m>
                  <m:oMath xmlns:m="http://schemas.openxmlformats.org/officeDocument/2006/math"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𝑍</m:t>
                    </m:r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 rotations</a:t>
                </a:r>
              </a:p>
              <a:p>
                <a:pPr marL="273050" indent="-273050" defTabSz="1219169" hangingPunct="0">
                  <a:buFont typeface="Arial" panose="020B0604020202020204" pitchFamily="34" charset="0"/>
                  <a:buChar char="•"/>
                </a:pPr>
                <a:endParaRPr lang="it-IT" sz="2200" kern="0" dirty="0">
                  <a:solidFill>
                    <a:srgbClr val="000000"/>
                  </a:solidFill>
                  <a:sym typeface="Helvetica Neue"/>
                </a:endParaRPr>
              </a:p>
              <a:p>
                <a:pPr marL="273050" indent="-273050" defTabSz="1219169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Free </a:t>
                </a:r>
                <a:r>
                  <a:rPr lang="it-IT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user-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Wingdings" panose="05000000000000000000" pitchFamily="2" charset="2"/>
                  </a:rPr>
                  <a:t>defined</a:t>
                </a:r>
                <a:r>
                  <a:rPr lang="it-IT" sz="2200" kern="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parameters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: </a:t>
                </a:r>
                <a14:m>
                  <m:oMath xmlns:m="http://schemas.openxmlformats.org/officeDocument/2006/math">
                    <m:r>
                      <a:rPr lang="it-IT" sz="24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𝜏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,  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𝜈</m:t>
                    </m:r>
                    <m:r>
                      <a:rPr lang="it-IT" sz="2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,  </m:t>
                    </m:r>
                    <m:sSub>
                      <m:sSubPr>
                        <m:ctrlP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.  My </a:t>
                </a:r>
                <a:r>
                  <a:rPr lang="it-IT" sz="2200" kern="0" dirty="0" err="1">
                    <a:solidFill>
                      <a:srgbClr val="000000"/>
                    </a:solidFill>
                    <a:sym typeface="Helvetica Neue"/>
                  </a:rPr>
                  <a:t>choice</a:t>
                </a:r>
                <a:r>
                  <a:rPr lang="it-IT" sz="2200" kern="0" dirty="0">
                    <a:solidFill>
                      <a:srgbClr val="000000"/>
                    </a:solidFill>
                    <a:sym typeface="Helvetica Neue"/>
                  </a:rPr>
                  <a:t>: </a:t>
                </a:r>
                <a14:m>
                  <m:oMath xmlns:m="http://schemas.openxmlformats.org/officeDocument/2006/math">
                    <m:r>
                      <a:rPr lang="it-IT" sz="24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𝜏</m:t>
                    </m:r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=1, </m:t>
                    </m:r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𝜈</m:t>
                    </m:r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=1,  </m:t>
                    </m:r>
                    <m:sSub>
                      <m:sSubPr>
                        <m:ctrlPr>
                          <a:rPr lang="it-IT" sz="22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lang="it-IT" sz="22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𝑛</m:t>
                        </m:r>
                      </m:e>
                      <m:sub>
                        <m:r>
                          <a:rPr lang="it-IT" sz="2200" b="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b>
                    </m:sSub>
                    <m:r>
                      <a:rPr lang="it-IT" sz="2200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Helvetica Neue"/>
                      </a:rPr>
                      <m:t>=7</m:t>
                    </m:r>
                  </m:oMath>
                </a14:m>
                <a:endParaRPr lang="it-IT" sz="2200" kern="0" dirty="0">
                  <a:solidFill>
                    <a:srgbClr val="000000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89748B4-A7D9-A93A-199E-07D95942A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9" y="1018134"/>
                <a:ext cx="11373661" cy="5282665"/>
              </a:xfrm>
              <a:prstGeom prst="rect">
                <a:avLst/>
              </a:prstGeom>
              <a:blipFill>
                <a:blip r:embed="rId5"/>
                <a:stretch>
                  <a:fillRect l="-589" b="-19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6581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C16F-5BCB-8F3C-E166-9298AFDD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1F9F8BFC-E224-9D32-27F2-BABDA39F89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198509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Step 3: </a:t>
            </a:r>
            <a:r>
              <a:rPr lang="it-IT" dirty="0" err="1"/>
              <a:t>run</a:t>
            </a:r>
            <a:r>
              <a:rPr lang="it-IT" dirty="0"/>
              <a:t> quantum </a:t>
            </a:r>
            <a:r>
              <a:rPr lang="it-IT" dirty="0" err="1"/>
              <a:t>circuit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031E0FE2-298D-F0BD-0064-87B325387C58}"/>
              </a:ext>
            </a:extLst>
          </p:cNvPr>
          <p:cNvSpPr/>
          <p:nvPr/>
        </p:nvSpPr>
        <p:spPr>
          <a:xfrm>
            <a:off x="611329" y="891391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8F5D455-FDEA-0D64-70CE-FC37ACB86D39}"/>
              </a:ext>
            </a:extLst>
          </p:cNvPr>
          <p:cNvSpPr txBox="1"/>
          <p:nvPr/>
        </p:nvSpPr>
        <p:spPr>
          <a:xfrm>
            <a:off x="448183" y="2620595"/>
            <a:ext cx="11295633" cy="392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Backend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 real or simulator (user-defined for flexibility). My choice: </a:t>
            </a:r>
            <a:r>
              <a:rPr lang="en-US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simulator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, due to runtime limitations on real IBM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sym typeface="Helvetica Neue"/>
              </a:rPr>
              <a:t>Circuit depth</a:t>
            </a:r>
            <a:r>
              <a:rPr lang="en-US" sz="2200" kern="0" dirty="0">
                <a:solidFill>
                  <a:srgbClr val="000000"/>
                </a:solidFill>
                <a:sym typeface="Helvetica Neue"/>
              </a:rPr>
              <a:t>: 36 without noise model, 222 with simulated noise</a:t>
            </a: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FF0000"/>
                </a:solidFill>
                <a:latin typeface="Helvetica Neue"/>
                <a:sym typeface="Helvetica Neue"/>
              </a:rPr>
              <a:t>Simulated noise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: from </a:t>
            </a:r>
            <a:r>
              <a:rPr lang="en-US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IBMBackend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('</a:t>
            </a:r>
            <a:r>
              <a:rPr lang="en-US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ibm_torino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')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Qiskit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Helvetica Neue"/>
              </a:rPr>
              <a:t> Runtime Primitive: Sampler (shots = 10.000) </a:t>
            </a:r>
            <a:r>
              <a:rPr lang="en-US" sz="2200" kern="0" dirty="0">
                <a:solidFill>
                  <a:srgbClr val="000000"/>
                </a:solidFill>
                <a:latin typeface="Helvetica Neue"/>
                <a:sym typeface="Wingdings" panose="05000000000000000000" pitchFamily="2" charset="2"/>
              </a:rPr>
              <a:t> reconstruct expectation values from measurement results</a:t>
            </a:r>
            <a:endParaRPr lang="en-US" sz="2200" kern="0" dirty="0">
              <a:solidFill>
                <a:srgbClr val="000000"/>
              </a:solidFill>
              <a:latin typeface="Helvetica Neue"/>
              <a:sym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8197EE-87D2-E4CD-3A60-A8000770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111102"/>
            <a:ext cx="11906962" cy="141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05841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C8DD-029F-6FD9-9927-4B022ACE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B7F8E6A1-76AB-0698-3997-08537C7AC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Step 4: post-</a:t>
            </a:r>
            <a:r>
              <a:rPr lang="it-IT" dirty="0" err="1"/>
              <a:t>process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(</a:t>
            </a:r>
            <a:r>
              <a:rPr lang="it-IT" dirty="0" err="1"/>
              <a:t>train</a:t>
            </a:r>
            <a:r>
              <a:rPr lang="it-IT" dirty="0"/>
              <a:t> &amp; test)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54B43AB9-CA56-25AB-A4A3-33AEE4A759E5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B50E3A2-8520-75D7-8C28-25E7F3AC816A}"/>
              </a:ext>
            </a:extLst>
          </p:cNvPr>
          <p:cNvSpPr txBox="1"/>
          <p:nvPr/>
        </p:nvSpPr>
        <p:spPr>
          <a:xfrm>
            <a:off x="603250" y="1629007"/>
            <a:ext cx="4611500" cy="392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Train the model 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with the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measured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expectation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values</a:t>
            </a: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linear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regression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method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: </a:t>
            </a: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Ridge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from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sklearn</a:t>
            </a: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test </a:t>
            </a:r>
            <a:r>
              <a:rPr lang="it-IT" sz="22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results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on the test part of the dataset</a:t>
            </a:r>
          </a:p>
        </p:txBody>
      </p:sp>
      <p:pic>
        <p:nvPicPr>
          <p:cNvPr id="3" name="Immagine 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4392FC6-F12F-C5E5-F77D-5A2DFEEA0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29" y="1309698"/>
            <a:ext cx="6893037" cy="487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2075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D3B9-AC5C-C46F-FE23-24985CC9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73B085EC-65C5-4725-7BFC-994A418526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Step 5: </a:t>
            </a:r>
            <a:r>
              <a:rPr lang="en-US" dirty="0"/>
              <a:t>generate future predictions over 2 weeks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09028E7D-9CAC-5D0B-60FF-986FDFE0876C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CEF00E-BF90-1F45-3C9E-546DA9734ABC}"/>
              </a:ext>
            </a:extLst>
          </p:cNvPr>
          <p:cNvSpPr txBox="1"/>
          <p:nvPr/>
        </p:nvSpPr>
        <p:spPr>
          <a:xfrm>
            <a:off x="611330" y="1921307"/>
            <a:ext cx="4664998" cy="3015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Forecast </a:t>
            </a:r>
            <a:r>
              <a:rPr lang="it-IT" sz="22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next</a:t>
            </a:r>
            <a:r>
              <a:rPr lang="it-IT" sz="2200" kern="0" dirty="0">
                <a:solidFill>
                  <a:srgbClr val="FF0000"/>
                </a:solidFill>
                <a:sym typeface="Wingdings" panose="05000000000000000000" pitchFamily="2" charset="2"/>
              </a:rPr>
              <a:t> 14 days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with the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trained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weight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matrix</a:t>
            </a: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2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Revert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PCs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min-max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normalization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and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decompress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PCs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it-IT" sz="22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save</a:t>
            </a:r>
            <a:r>
              <a:rPr lang="it-IT" sz="2200" kern="0" dirty="0">
                <a:solidFill>
                  <a:srgbClr val="000000"/>
                </a:solidFill>
                <a:sym typeface="Wingdings" panose="05000000000000000000" pitchFamily="2" charset="2"/>
              </a:rPr>
              <a:t> dataset</a:t>
            </a:r>
          </a:p>
        </p:txBody>
      </p:sp>
      <p:pic>
        <p:nvPicPr>
          <p:cNvPr id="3" name="Immagine 2" descr="Immagine che contiene testo, line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2655B496-1A36-0923-4052-833893803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597" y="1289379"/>
            <a:ext cx="6871365" cy="486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3616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7BDC-3C65-39BD-CBE7-8A10F264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FAEDE88E-B43F-1C30-E625-87881351A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it-IT" dirty="0"/>
              <a:t>Step 6: </a:t>
            </a:r>
            <a:r>
              <a:rPr lang="en-US" dirty="0"/>
              <a:t>evaluate precision and compare</a:t>
            </a:r>
            <a:br>
              <a:rPr lang="en-US" dirty="0"/>
            </a:b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04CF66C9-72F2-F1F3-8F6A-676807AAB23E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C1F6595-2AC6-16C1-5304-1498B919CFE3}"/>
              </a:ext>
            </a:extLst>
          </p:cNvPr>
          <p:cNvSpPr txBox="1"/>
          <p:nvPr/>
        </p:nvSpPr>
        <p:spPr>
          <a:xfrm>
            <a:off x="611329" y="1018134"/>
            <a:ext cx="11373661" cy="29785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Precision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evaluated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by the Mean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Squared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Error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(MSE) of the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three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PCs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on test set</a:t>
            </a: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Precision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compared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with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classical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Gradient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Boosting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method</a:t>
            </a:r>
            <a:endParaRPr lang="it-IT" sz="2400" kern="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73050" indent="-273050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Results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for the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chosen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it-IT" sz="2400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parameters</a:t>
            </a:r>
            <a:r>
              <a:rPr lang="it-IT" sz="2400" kern="0" dirty="0">
                <a:solidFill>
                  <a:srgbClr val="000000"/>
                </a:solidFill>
                <a:sym typeface="Wingdings" panose="05000000000000000000" pitchFamily="2" charset="2"/>
              </a:rPr>
              <a:t>: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14D31BF-8EAD-E51F-F3BA-0210AFC2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09" y="4572347"/>
            <a:ext cx="7878782" cy="12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024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9BCA-6EEB-84FB-37F2-071E503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>
            <a:extLst>
              <a:ext uri="{FF2B5EF4-FFF2-40B4-BE49-F238E27FC236}">
                <a16:creationId xmlns:a16="http://schemas.microsoft.com/office/drawing/2014/main" id="{2C265507-6B11-A154-BD05-F76684EA8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218575"/>
            <a:ext cx="10985500" cy="7175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it-IT" dirty="0"/>
              <a:t>Links and </a:t>
            </a:r>
            <a:r>
              <a:rPr lang="it-IT" dirty="0" err="1"/>
              <a:t>Contacts</a:t>
            </a:r>
            <a:endParaRPr dirty="0"/>
          </a:p>
        </p:txBody>
      </p:sp>
      <p:sp>
        <p:nvSpPr>
          <p:cNvPr id="181" name="Linea">
            <a:extLst>
              <a:ext uri="{FF2B5EF4-FFF2-40B4-BE49-F238E27FC236}">
                <a16:creationId xmlns:a16="http://schemas.microsoft.com/office/drawing/2014/main" id="{310F52EE-197D-35F7-058F-38D8704CD9CE}"/>
              </a:ext>
            </a:extLst>
          </p:cNvPr>
          <p:cNvSpPr/>
          <p:nvPr/>
        </p:nvSpPr>
        <p:spPr>
          <a:xfrm>
            <a:off x="611329" y="911457"/>
            <a:ext cx="11295633" cy="1"/>
          </a:xfrm>
          <a:prstGeom prst="line">
            <a:avLst/>
          </a:prstGeom>
          <a:ln w="50800">
            <a:solidFill>
              <a:srgbClr val="07AED5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F16501D-BB3C-88C8-84A9-554E39935DBA}"/>
              </a:ext>
            </a:extLst>
          </p:cNvPr>
          <p:cNvSpPr txBox="1"/>
          <p:nvPr/>
        </p:nvSpPr>
        <p:spPr>
          <a:xfrm>
            <a:off x="84634" y="1490708"/>
            <a:ext cx="11739421" cy="4455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GitHub repository of the project</a:t>
            </a:r>
            <a:r>
              <a:rPr lang="it-IT" sz="2400" kern="0" dirty="0">
                <a:solidFill>
                  <a:srgbClr val="000000"/>
                </a:solidFill>
                <a:sym typeface="Helvetica Neue"/>
              </a:rPr>
              <a:t>:</a:t>
            </a:r>
          </a:p>
          <a:p>
            <a:pPr algn="ctr" defTabSz="1219169" hangingPunct="0">
              <a:lnSpc>
                <a:spcPct val="150000"/>
              </a:lnSpc>
            </a:pPr>
            <a:r>
              <a:rPr lang="it-IT" sz="2400" kern="0" dirty="0">
                <a:solidFill>
                  <a:srgbClr val="000000"/>
                </a:solidFill>
                <a:sym typeface="Helvetica Neue"/>
                <a:hlinkClick r:id="rId3"/>
              </a:rPr>
              <a:t>https://github.com/matteo-piccolini/QRC_hackaton_Paris_2025/tree/main</a:t>
            </a:r>
            <a:endParaRPr lang="it-IT" sz="24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LinkedIn </a:t>
            </a:r>
            <a:r>
              <a:rPr lang="it-IT" sz="2400" kern="0" dirty="0" err="1">
                <a:solidFill>
                  <a:srgbClr val="000000"/>
                </a:solidFill>
                <a:latin typeface="Helvetica Neue"/>
                <a:sym typeface="Helvetica Neue"/>
              </a:rPr>
              <a:t>profile</a:t>
            </a: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:</a:t>
            </a:r>
          </a:p>
          <a:p>
            <a:pPr algn="ctr" defTabSz="1219169" hangingPunct="0">
              <a:lnSpc>
                <a:spcPct val="150000"/>
              </a:lnSpc>
            </a:pPr>
            <a:r>
              <a:rPr lang="it-IT" sz="2400" kern="0" dirty="0">
                <a:solidFill>
                  <a:srgbClr val="000000"/>
                </a:solidFill>
                <a:sym typeface="Helvetica Neue"/>
                <a:hlinkClick r:id="rId4"/>
              </a:rPr>
              <a:t>https://www.linkedin.com/notifications/?filter=all</a:t>
            </a:r>
            <a:endParaRPr lang="it-IT" sz="2400" kern="0" dirty="0">
              <a:solidFill>
                <a:srgbClr val="000000"/>
              </a:solidFill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400" kern="0" dirty="0">
              <a:solidFill>
                <a:srgbClr val="000000"/>
              </a:solidFill>
              <a:latin typeface="Helvetica Neue"/>
              <a:sym typeface="Helvetica Neue"/>
            </a:endParaRPr>
          </a:p>
          <a:p>
            <a:pPr marL="273050" indent="-273050" algn="ctr" defTabSz="1219169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Email:</a:t>
            </a:r>
          </a:p>
          <a:p>
            <a:pPr algn="ctr" defTabSz="1219169" hangingPunct="0">
              <a:lnSpc>
                <a:spcPct val="150000"/>
              </a:lnSpc>
            </a:pPr>
            <a:r>
              <a:rPr lang="it-IT" sz="2400" kern="0" dirty="0">
                <a:solidFill>
                  <a:srgbClr val="000000"/>
                </a:solidFill>
                <a:latin typeface="Helvetica Neue"/>
                <a:sym typeface="Helvetica Neue"/>
              </a:rPr>
              <a:t>matteo.piccolini@gmail.com</a:t>
            </a:r>
          </a:p>
        </p:txBody>
      </p:sp>
    </p:spTree>
    <p:extLst>
      <p:ext uri="{BB962C8B-B14F-4D97-AF65-F5344CB8AC3E}">
        <p14:creationId xmlns:p14="http://schemas.microsoft.com/office/powerpoint/2010/main" val="116303460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3798</TotalTime>
  <Words>865</Words>
  <Application>Microsoft Office PowerPoint</Application>
  <PresentationFormat>Widescreen</PresentationFormat>
  <Paragraphs>105</Paragraphs>
  <Slides>11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Aptos</vt:lpstr>
      <vt:lpstr>Arial</vt:lpstr>
      <vt:lpstr>Cambria Math</vt:lpstr>
      <vt:lpstr>Helvetica Neue</vt:lpstr>
      <vt:lpstr>Helvetica Neue Medium</vt:lpstr>
      <vt:lpstr>Wingdings</vt:lpstr>
      <vt:lpstr>30_BasicColor</vt:lpstr>
      <vt:lpstr>Qiskit Fall Fest 2025 Paris-Saclay Hackathon</vt:lpstr>
      <vt:lpstr>Goal and chosen framework </vt:lpstr>
      <vt:lpstr>Quantum Reservoir Computing </vt:lpstr>
      <vt:lpstr>Quantum Reservoir Computing </vt:lpstr>
      <vt:lpstr>Step 1: data management</vt:lpstr>
      <vt:lpstr>Step 2: create quantum circuit</vt:lpstr>
      <vt:lpstr>Step 3: run quantum circuit</vt:lpstr>
      <vt:lpstr>Step 4: post-process results (train &amp; test)</vt:lpstr>
      <vt:lpstr>Step 5: generate future predictions over 2 weeks</vt:lpstr>
      <vt:lpstr>Step 6: evaluate precision and compare </vt:lpstr>
      <vt:lpstr>Links and Contacts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PICCOLINI</dc:creator>
  <cp:lastModifiedBy>Matteo Piccolini</cp:lastModifiedBy>
  <cp:revision>220</cp:revision>
  <dcterms:created xsi:type="dcterms:W3CDTF">2025-01-06T11:26:54Z</dcterms:created>
  <dcterms:modified xsi:type="dcterms:W3CDTF">2025-12-03T14:54:51Z</dcterms:modified>
</cp:coreProperties>
</file>